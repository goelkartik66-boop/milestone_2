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342" r:id="rId5"/>
    <p:sldId id="359" r:id="rId6"/>
    <p:sldId id="382" r:id="rId7"/>
    <p:sldId id="383" r:id="rId8"/>
    <p:sldId id="375" r:id="rId9"/>
    <p:sldId id="385" r:id="rId10"/>
    <p:sldId id="386" r:id="rId11"/>
    <p:sldId id="388" r:id="rId12"/>
    <p:sldId id="389" r:id="rId13"/>
    <p:sldId id="391" r:id="rId14"/>
    <p:sldId id="392" r:id="rId15"/>
    <p:sldId id="393" r:id="rId16"/>
    <p:sldId id="394" r:id="rId17"/>
    <p:sldId id="395" r:id="rId18"/>
    <p:sldId id="39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5388" autoAdjust="0"/>
  </p:normalViewPr>
  <p:slideViewPr>
    <p:cSldViewPr snapToGrid="0" snapToObjects="1" showGuides="1">
      <p:cViewPr varScale="1">
        <p:scale>
          <a:sx n="95" d="100"/>
          <a:sy n="95" d="100"/>
        </p:scale>
        <p:origin x="139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4/4/2026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4/4/2026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511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80210"/>
            <a:ext cx="12191998" cy="3215641"/>
          </a:xfrm>
        </p:spPr>
        <p:txBody>
          <a:bodyPr anchor="b"/>
          <a:lstStyle/>
          <a:p>
            <a:r>
              <a:rPr lang="en-IN" dirty="0"/>
              <a:t>Multilingual Polarization Detection</a:t>
            </a:r>
            <a:endParaRPr lang="en-US" dirty="0"/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429000"/>
            <a:ext cx="12191997" cy="2577772"/>
          </a:xfrm>
        </p:spPr>
        <p:txBody>
          <a:bodyPr/>
          <a:lstStyle/>
          <a:p>
            <a:r>
              <a:rPr lang="en-US" dirty="0"/>
              <a:t>Foundations of AI Programming using Python</a:t>
            </a:r>
          </a:p>
          <a:p>
            <a:endParaRPr lang="en-US" dirty="0"/>
          </a:p>
          <a:p>
            <a:r>
              <a:rPr lang="en-IN" sz="1800" b="1" dirty="0"/>
              <a:t>Submitted by:</a:t>
            </a:r>
            <a:br>
              <a:rPr lang="en-IN" sz="1800" dirty="0"/>
            </a:br>
            <a:r>
              <a:rPr lang="en-IN" sz="1800" dirty="0"/>
              <a:t>Kartik Goel:- A25ariu0019 </a:t>
            </a:r>
          </a:p>
          <a:p>
            <a:r>
              <a:rPr lang="en-IN" sz="1800" dirty="0"/>
              <a:t>Keshav Garg:- a25ariu0021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/>
          <a:lstStyle/>
          <a:p>
            <a:r>
              <a:rPr lang="en-US" dirty="0"/>
              <a:t>Problem statement 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3097848"/>
            <a:ext cx="4466504" cy="3405187"/>
          </a:xfrm>
        </p:spPr>
        <p:txBody>
          <a:bodyPr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Detect polarization in online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Identify divisive vs neutral content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Handel multilingual data</a:t>
            </a:r>
          </a:p>
        </p:txBody>
      </p:sp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1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5" dur="500" fill="hold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9" dur="500" fill="hold"/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EC585-6132-AD1B-1729-9AA955120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89143-189E-6BF7-AF6F-3EE5D577BE8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Build a machine learning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Classify text as: </a:t>
            </a:r>
          </a:p>
          <a:p>
            <a:r>
              <a:rPr lang="en-US" sz="2000" dirty="0"/>
              <a:t>                   Polarized </a:t>
            </a:r>
          </a:p>
          <a:p>
            <a:r>
              <a:rPr lang="en-US" sz="2000" dirty="0"/>
              <a:t>                   Non-Polarized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Deploy model as flask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6160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 0.033 0.027 0.06 0.06 0.06 C 0.099 0.06 0.113 0.03 0.119 0.012 L 0.125 -0.012 C 0.131 -0.03 0.146 -0.06 0.19 -0.06 C 0.218 -0.06 0.25 -0.033 0.25 0 C 0.25 0.033 0.218 0.06 0.19 0.06 C 0.146 0.06 0.131 0.03 0.125 0.012 L 0.119 -0.012 C 0.113 -0.03 0.099 -0.06 0.06 -0.06 C 0.027 -0.06 0 -0.033 0 0 Z" pathEditMode="relative" ptsTypes="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1944B-8DEB-BF87-35EA-76FBCC31A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436F4-D1B5-9F43-6EF1-B3F14C4A21D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Multilingual dataset (</a:t>
            </a:r>
            <a:r>
              <a:rPr lang="en-US" sz="2000" dirty="0" err="1"/>
              <a:t>eng</a:t>
            </a:r>
            <a:r>
              <a:rPr lang="en-US" sz="2000" dirty="0"/>
              <a:t>, </a:t>
            </a:r>
            <a:r>
              <a:rPr lang="en-US" sz="2000" dirty="0" err="1"/>
              <a:t>hin</a:t>
            </a:r>
            <a:r>
              <a:rPr lang="en-US" sz="2000" dirty="0"/>
              <a:t>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Format: CSV 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Key columns:</a:t>
            </a:r>
          </a:p>
          <a:p>
            <a:r>
              <a:rPr lang="en-US" sz="2000" dirty="0"/>
              <a:t>                      text</a:t>
            </a:r>
          </a:p>
          <a:p>
            <a:r>
              <a:rPr lang="en-US" sz="2000" dirty="0"/>
              <a:t>                      polarization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12284040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11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19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23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27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60DFF-2E7E-7A22-819A-C011020DFF0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/>
          <a:lstStyle/>
          <a:p>
            <a:r>
              <a:rPr lang="en-US" sz="3600" dirty="0"/>
              <a:t>Combined multiple CSV files</a:t>
            </a:r>
          </a:p>
          <a:p>
            <a:r>
              <a:rPr lang="en-US" sz="3600" dirty="0"/>
              <a:t>Extracted text and labels</a:t>
            </a:r>
          </a:p>
          <a:p>
            <a:r>
              <a:rPr lang="en-US" sz="3600" dirty="0"/>
              <a:t>Cleaned and prepared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4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3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4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6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7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9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0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1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2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3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25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6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7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8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9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E1D00-A84D-6A97-5070-7B5805A8A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26E38-726D-38DE-3A77-47FFC847BC9E}"/>
              </a:ext>
            </a:extLst>
          </p:cNvPr>
          <p:cNvSpPr>
            <a:spLocks noGrp="1"/>
          </p:cNvSpPr>
          <p:nvPr>
            <p:ph sz="quarter" idx="31"/>
          </p:nvPr>
        </p:nvSpPr>
        <p:spPr/>
        <p:txBody>
          <a:bodyPr/>
          <a:lstStyle/>
          <a:p>
            <a:r>
              <a:rPr lang="en-US" sz="3600" dirty="0"/>
              <a:t>Used TF-IDF Vectorization</a:t>
            </a:r>
          </a:p>
          <a:p>
            <a:r>
              <a:rPr lang="en-US" sz="3600" dirty="0"/>
              <a:t>Converted text into numerical from</a:t>
            </a:r>
          </a:p>
          <a:p>
            <a:r>
              <a:rPr lang="en-US" sz="3600" dirty="0"/>
              <a:t>Selected important words</a:t>
            </a:r>
            <a:endParaRPr lang="en-I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0F0134-44F2-C093-AAD1-BCC03816E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69060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EF15A-7CC5-748E-A602-80535821F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used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CDA31-3E18-98A3-A0B4-5B684F99501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Logistic Regression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Binary 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Efficient and fast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1314379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8AE94-4C66-1EFB-3049-9814C52C0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" y="0"/>
            <a:ext cx="12191998" cy="3215641"/>
          </a:xfrm>
        </p:spPr>
        <p:txBody>
          <a:bodyPr/>
          <a:lstStyle/>
          <a:p>
            <a:r>
              <a:rPr lang="en-US" dirty="0"/>
              <a:t>workflow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2FF2FF-A3DA-2953-B0CA-A63371C735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" y="3510207"/>
            <a:ext cx="12191997" cy="2577772"/>
          </a:xfrm>
        </p:spPr>
        <p:txBody>
          <a:bodyPr/>
          <a:lstStyle/>
          <a:p>
            <a:r>
              <a:rPr lang="en-US" sz="2000" dirty="0"/>
              <a:t>                                                                                         Data → Preprocessing → TF-IDF → Model Training → Prediction → Deployment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88679992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67 -0.04 C 0.081 -0.049 0.102 -0.054 0.124 -0.054 C 0.149 -0.054 0.169 -0.049 0.183 -0.04 L 0.25 0 E" pathEditMode="relative" ptsTypes="">
                                      <p:cBhvr>
                                        <p:cTn id="6" dur="200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 0.033 0.027 0.06 0.06 0.06 C 0.099 0.06 0.113 0.03 0.119 0.012 L 0.125 -0.012 C 0.131 -0.03 0.146 -0.06 0.19 -0.06 C 0.218 -0.06 0.25 -0.033 0.25 0 C 0.25 0.033 0.218 0.06 0.19 0.06 C 0.146 0.06 0.131 0.03 0.125 0.012 L 0.119 -0.012 C 0.113 -0.03 0.099 -0.06 0.06 -0.06 C 0.027 -0.06 0 -0.033 0 0 Z" pathEditMode="relative" ptsTypes="">
                                      <p:cBhvr>
                                        <p:cTn id="10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51709-F4DB-9F57-A1C3-D97168FFE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55027"/>
            <a:ext cx="6327105" cy="3373973"/>
          </a:xfrm>
        </p:spPr>
        <p:txBody>
          <a:bodyPr/>
          <a:lstStyle/>
          <a:p>
            <a:r>
              <a:rPr lang="en-US" dirty="0"/>
              <a:t>output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A9A53-7613-6354-E85A-6808CBD2CD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Generated submission.csv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Example:</a:t>
            </a:r>
          </a:p>
          <a:p>
            <a:pPr algn="l"/>
            <a:r>
              <a:rPr lang="en-US" dirty="0"/>
              <a:t>               Polarized </a:t>
            </a:r>
          </a:p>
          <a:p>
            <a:pPr algn="l"/>
            <a:r>
              <a:rPr lang="en-US" dirty="0"/>
              <a:t>               non-polarized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370714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9931C-5E72-CF63-6996-F452B3960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8FB0DA6-8109-E919-AF9E-E7F043D4575F}"/>
              </a:ext>
            </a:extLst>
          </p:cNvPr>
          <p:cNvPicPr>
            <a:picLocks noGrp="1" noChangeAspect="1"/>
          </p:cNvPicPr>
          <p:nvPr>
            <p:ph sz="quarter" idx="36"/>
          </p:nvPr>
        </p:nvPicPr>
        <p:blipFill>
          <a:blip r:embed="rId3"/>
          <a:stretch>
            <a:fillRect/>
          </a:stretch>
        </p:blipFill>
        <p:spPr>
          <a:xfrm>
            <a:off x="942975" y="2125420"/>
            <a:ext cx="6877878" cy="4298674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13B51F-9FD1-3891-E299-B946B0539D56}"/>
              </a:ext>
            </a:extLst>
          </p:cNvPr>
          <p:cNvSpPr>
            <a:spLocks noGrp="1"/>
          </p:cNvSpPr>
          <p:nvPr>
            <p:ph sz="quarter" idx="37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Built using Flask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Web interface for user input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Real-time prediction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B7FABC-60D8-5F0B-F9A1-CCE7AD49B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3720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C6062-A5DC-AB0D-5F0C-991A43847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faced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3FA02-2DB0-2557-9749-B6768135FD8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2000" dirty="0"/>
              <a:t>Understanding dataset structure</a:t>
            </a:r>
          </a:p>
          <a:p>
            <a:r>
              <a:rPr lang="en-US" sz="2000" dirty="0"/>
              <a:t>Handling multilingual data</a:t>
            </a:r>
          </a:p>
          <a:p>
            <a:r>
              <a:rPr lang="en-US" sz="2000" dirty="0"/>
              <a:t>Label interpretation issues	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5527365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EE2D7-BC95-E5FC-A3D3-3969969BD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B774C-52DB-5678-C9F7-BC5857D4BB3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2000" dirty="0"/>
              <a:t>Models predicts effectively</a:t>
            </a:r>
          </a:p>
          <a:p>
            <a:r>
              <a:rPr lang="en-US" sz="2000" dirty="0"/>
              <a:t>Works on real-time input</a:t>
            </a:r>
          </a:p>
          <a:p>
            <a:r>
              <a:rPr lang="en-US" sz="2000" dirty="0"/>
              <a:t>Simple and effective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1585197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3BC1B-072A-0FC3-5BB6-8DB0FE32A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scope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68E2D-3639-BC9C-C1FD-483432C1DC6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2000" dirty="0"/>
              <a:t>Use deep learning (BERT)</a:t>
            </a:r>
          </a:p>
          <a:p>
            <a:r>
              <a:rPr lang="en-US" sz="2000" dirty="0"/>
              <a:t>Improve accuracy </a:t>
            </a:r>
          </a:p>
          <a:p>
            <a:r>
              <a:rPr lang="en-US" sz="2000" dirty="0"/>
              <a:t>Deploy online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316493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55AA2-1F51-5849-D491-9209ED828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D5AAA-D6EB-9141-AB15-1BD58DC13F5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2000" dirty="0"/>
              <a:t>Successfully </a:t>
            </a:r>
            <a:r>
              <a:rPr lang="en-US" sz="2000" dirty="0" err="1"/>
              <a:t>bulit</a:t>
            </a:r>
            <a:r>
              <a:rPr lang="en-US" sz="2000" dirty="0"/>
              <a:t> ML pipeline</a:t>
            </a:r>
          </a:p>
          <a:p>
            <a:r>
              <a:rPr lang="en-US" sz="2000" dirty="0"/>
              <a:t>Deployed using Flask</a:t>
            </a:r>
          </a:p>
          <a:p>
            <a:r>
              <a:rPr lang="en-US" sz="2000" dirty="0"/>
              <a:t>Supports multilingual text	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40293924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5 0 C 0.181 0 0.25 0.069 0.25 0.125 L 0.25 0.25 E" pathEditMode="relative" ptsTypes="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1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7.40741E-7 L -0.03997 0.0669 C -0.04895 0.08102 -0.05403 0.10208 -0.05403 0.12407 C -0.05403 0.14907 -0.04895 0.16898 -0.03997 0.1831 L -4.58333E-6 0.25 " pathEditMode="relative" rAng="0" ptsTypes="AAAAA">
                                      <p:cBhvr>
                                        <p:cTn id="10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08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8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4 0.067 C 0.049 0.081 0.054 0.102 0.054 0.124 C 0.054 0.149 0.049 0.169 0.04 0.183 L 0 0.25 E" pathEditMode="relative" ptsTypes=""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755F3-127E-04D5-8B11-B16CDF614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7792EE-CC7D-DD36-ACAF-E2F7A48A95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https://github.com/goelkartik66-boop/Milestone_2</a:t>
            </a:r>
          </a:p>
        </p:txBody>
      </p:sp>
    </p:spTree>
    <p:extLst>
      <p:ext uri="{BB962C8B-B14F-4D97-AF65-F5344CB8AC3E}">
        <p14:creationId xmlns:p14="http://schemas.microsoft.com/office/powerpoint/2010/main" val="147025264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38 0.08426 L 0.1112 0.00023 L 0.2362 0.08426 L 0.1112 0.16828 L -0.0138 0.08426 Z " pathEditMode="relative" rAng="0" ptsTypes="AAAAA">
                                      <p:cBhvr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Scientific findings presentation</Template>
  <TotalTime>79</TotalTime>
  <Words>214</Words>
  <Application>Microsoft Office PowerPoint</Application>
  <PresentationFormat>Widescreen</PresentationFormat>
  <Paragraphs>71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Arial Nova</vt:lpstr>
      <vt:lpstr>Biome</vt:lpstr>
      <vt:lpstr>Calibri</vt:lpstr>
      <vt:lpstr>Custom</vt:lpstr>
      <vt:lpstr>Multilingual Polarization Detection</vt:lpstr>
      <vt:lpstr>Problem statement </vt:lpstr>
      <vt:lpstr>Objective </vt:lpstr>
      <vt:lpstr>dataset</vt:lpstr>
      <vt:lpstr>Data preprocessing</vt:lpstr>
      <vt:lpstr>Feature engineering</vt:lpstr>
      <vt:lpstr>Model used </vt:lpstr>
      <vt:lpstr>workflow</vt:lpstr>
      <vt:lpstr>output</vt:lpstr>
      <vt:lpstr>deployment</vt:lpstr>
      <vt:lpstr>Challenges faced</vt:lpstr>
      <vt:lpstr>results</vt:lpstr>
      <vt:lpstr>Future scope</vt:lpstr>
      <vt:lpstr>conclusion</vt:lpstr>
      <vt:lpstr>Github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Kartik Goel</dc:creator>
  <cp:lastModifiedBy>Kartik Goel</cp:lastModifiedBy>
  <cp:revision>1</cp:revision>
  <dcterms:created xsi:type="dcterms:W3CDTF">2026-04-04T07:29:20Z</dcterms:created>
  <dcterms:modified xsi:type="dcterms:W3CDTF">2026-04-04T08:49:18Z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